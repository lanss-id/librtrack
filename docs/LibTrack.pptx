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6400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4173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LibTrack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1148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6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11480" y="2788920"/>
            <a:ext cx="164592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290779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Manajemen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Perpustakaan Akademik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663440"/>
            <a:ext cx="86868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46634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371600" y="4663440"/>
            <a:ext cx="86868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0" y="46634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331720" y="4663440"/>
            <a:ext cx="86868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31720" y="46634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291840" y="4663440"/>
            <a:ext cx="86868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91840" y="46634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663440" y="502920"/>
            <a:ext cx="420624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758952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85232" y="61264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Buku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285232" y="96012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koleksi, stok, kategori, ISBN, status real-time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663440" y="1600200"/>
            <a:ext cx="420624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856232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85232" y="170992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Anggota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285232" y="205740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Registrasi, kode auto (MBR-NNN), status aktif/nonaktif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663440" y="2697480"/>
            <a:ext cx="420624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953512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85232" y="280720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285232" y="315468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Peminjaman &amp; pengembalian atomik, deteksi overdue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663440" y="3794760"/>
            <a:ext cx="420624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050792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85232" y="390448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5285232" y="425196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real-time, grafik kategori, histori transaksi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4663440" y="47731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github.com/lanss-id/librtrack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Arsitektur Sistem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3977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04672"/>
            <a:ext cx="54864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52144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9692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13533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· Bootstrap 5 · DataTables · SweetAlert2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240280" y="1947672"/>
            <a:ext cx="0" cy="164592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31720" y="19476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HTTP / PDO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11480" y="2112264"/>
            <a:ext cx="3977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1480" y="2112264"/>
            <a:ext cx="54864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459736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43000" y="227685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143000" y="26609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 · PDO · Session · CSRF · Helpers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240280" y="3255264"/>
            <a:ext cx="0" cy="164592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331720" y="32552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HTTP / PDO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411480" y="3419856"/>
            <a:ext cx="3977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11480" y="3419856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767328"/>
            <a:ext cx="420624" cy="4206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43000" y="3584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143000" y="39684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· InnoDB · utf8mb4 · FK Constraints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526280" y="804672"/>
            <a:ext cx="4297680" cy="41148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4663440" y="886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Direktori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663440" y="12435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librtrack/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7223760" y="12435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root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4846320" y="14218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index.php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7223760" y="14218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Dashboard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4846320" y="16002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login.php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7223760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Auth entry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4846320" y="17785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logout.php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7223760" y="17785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Session destroy</a:t>
            </a:r>
            <a:endParaRPr lang="en-US" sz="750" dirty="0"/>
          </a:p>
        </p:txBody>
      </p:sp>
      <p:sp>
        <p:nvSpPr>
          <p:cNvPr id="34" name="Text 29"/>
          <p:cNvSpPr/>
          <p:nvPr/>
        </p:nvSpPr>
        <p:spPr>
          <a:xfrm>
            <a:off x="4846320" y="19568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database.sql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7223760" y="19568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Schema + seeds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4846320" y="213512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Dockerfile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7223760" y="21351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PHP 8.2-apache</a:t>
            </a:r>
            <a:endParaRPr lang="en-US" sz="750" dirty="0"/>
          </a:p>
        </p:txBody>
      </p:sp>
      <p:sp>
        <p:nvSpPr>
          <p:cNvPr id="38" name="Text 33"/>
          <p:cNvSpPr/>
          <p:nvPr/>
        </p:nvSpPr>
        <p:spPr>
          <a:xfrm>
            <a:off x="4846320" y="23134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docker-compose.yml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7223760" y="23134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3 services</a:t>
            </a:r>
            <a:endParaRPr lang="en-US" sz="750" dirty="0"/>
          </a:p>
        </p:txBody>
      </p:sp>
      <p:sp>
        <p:nvSpPr>
          <p:cNvPr id="40" name="Text 35"/>
          <p:cNvSpPr/>
          <p:nvPr/>
        </p:nvSpPr>
        <p:spPr>
          <a:xfrm>
            <a:off x="4846320" y="24917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config/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5029200" y="2670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database.php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7223760" y="26700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PDO + ENV config</a:t>
            </a:r>
            <a:endParaRPr lang="en-US" sz="750" dirty="0"/>
          </a:p>
        </p:txBody>
      </p:sp>
      <p:sp>
        <p:nvSpPr>
          <p:cNvPr id="43" name="Text 38"/>
          <p:cNvSpPr/>
          <p:nvPr/>
        </p:nvSpPr>
        <p:spPr>
          <a:xfrm>
            <a:off x="4846320" y="284835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includes/</a:t>
            </a:r>
            <a:endParaRPr lang="en-US" sz="800" dirty="0"/>
          </a:p>
        </p:txBody>
      </p:sp>
      <p:sp>
        <p:nvSpPr>
          <p:cNvPr id="44" name="Text 39"/>
          <p:cNvSpPr/>
          <p:nvPr/>
        </p:nvSpPr>
        <p:spPr>
          <a:xfrm>
            <a:off x="5029200" y="30266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header.php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7223760" y="30266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Nav + session</a:t>
            </a:r>
            <a:endParaRPr lang="en-US" sz="750" dirty="0"/>
          </a:p>
        </p:txBody>
      </p:sp>
      <p:sp>
        <p:nvSpPr>
          <p:cNvPr id="46" name="Text 41"/>
          <p:cNvSpPr/>
          <p:nvPr/>
        </p:nvSpPr>
        <p:spPr>
          <a:xfrm>
            <a:off x="5029200" y="32049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sidebar.php</a:t>
            </a:r>
            <a:endParaRPr lang="en-US" sz="800" dirty="0"/>
          </a:p>
        </p:txBody>
      </p:sp>
      <p:sp>
        <p:nvSpPr>
          <p:cNvPr id="47" name="Text 42"/>
          <p:cNvSpPr/>
          <p:nvPr/>
        </p:nvSpPr>
        <p:spPr>
          <a:xfrm>
            <a:off x="7223760" y="32049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Menu sidebar</a:t>
            </a:r>
            <a:endParaRPr lang="en-US" sz="750" dirty="0"/>
          </a:p>
        </p:txBody>
      </p:sp>
      <p:sp>
        <p:nvSpPr>
          <p:cNvPr id="48" name="Text 43"/>
          <p:cNvSpPr/>
          <p:nvPr/>
        </p:nvSpPr>
        <p:spPr>
          <a:xfrm>
            <a:off x="5029200" y="33832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helpers.php</a:t>
            </a:r>
            <a:endParaRPr lang="en-US" sz="800" dirty="0"/>
          </a:p>
        </p:txBody>
      </p:sp>
      <p:sp>
        <p:nvSpPr>
          <p:cNvPr id="49" name="Text 44"/>
          <p:cNvSpPr/>
          <p:nvPr/>
        </p:nvSpPr>
        <p:spPr>
          <a:xfrm>
            <a:off x="7223760" y="3383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e(), requireAuth()</a:t>
            </a:r>
            <a:endParaRPr lang="en-US" sz="750" dirty="0"/>
          </a:p>
        </p:txBody>
      </p:sp>
      <p:sp>
        <p:nvSpPr>
          <p:cNvPr id="50" name="Text 45"/>
          <p:cNvSpPr/>
          <p:nvPr/>
        </p:nvSpPr>
        <p:spPr>
          <a:xfrm>
            <a:off x="4846320" y="35615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views/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5120640" y="373989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books/</a:t>
            </a:r>
            <a:endParaRPr lang="en-US" sz="800" dirty="0"/>
          </a:p>
        </p:txBody>
      </p:sp>
      <p:sp>
        <p:nvSpPr>
          <p:cNvPr id="52" name="Text 47"/>
          <p:cNvSpPr/>
          <p:nvPr/>
        </p:nvSpPr>
        <p:spPr>
          <a:xfrm>
            <a:off x="7223760" y="37398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index|create|edit</a:t>
            </a:r>
            <a:endParaRPr lang="en-US" sz="750" dirty="0"/>
          </a:p>
        </p:txBody>
      </p:sp>
      <p:sp>
        <p:nvSpPr>
          <p:cNvPr id="53" name="Text 48"/>
          <p:cNvSpPr/>
          <p:nvPr/>
        </p:nvSpPr>
        <p:spPr>
          <a:xfrm>
            <a:off x="5120640" y="39182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members/</a:t>
            </a:r>
            <a:endParaRPr lang="en-US" sz="800" dirty="0"/>
          </a:p>
        </p:txBody>
      </p:sp>
      <p:sp>
        <p:nvSpPr>
          <p:cNvPr id="54" name="Text 49"/>
          <p:cNvSpPr/>
          <p:nvPr/>
        </p:nvSpPr>
        <p:spPr>
          <a:xfrm>
            <a:off x="7223760" y="39182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index|create|edit|delete</a:t>
            </a:r>
            <a:endParaRPr lang="en-US" sz="750" dirty="0"/>
          </a:p>
        </p:txBody>
      </p:sp>
      <p:sp>
        <p:nvSpPr>
          <p:cNvPr id="55" name="Text 50"/>
          <p:cNvSpPr/>
          <p:nvPr/>
        </p:nvSpPr>
        <p:spPr>
          <a:xfrm>
            <a:off x="5120640" y="40965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transactions/</a:t>
            </a:r>
            <a:endParaRPr lang="en-US" sz="800" dirty="0"/>
          </a:p>
        </p:txBody>
      </p:sp>
      <p:sp>
        <p:nvSpPr>
          <p:cNvPr id="56" name="Text 51"/>
          <p:cNvSpPr/>
          <p:nvPr/>
        </p:nvSpPr>
        <p:spPr>
          <a:xfrm>
            <a:off x="7223760" y="40965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index|borrow|history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Struktur Database — Schema 4 Tabel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" y="777240"/>
            <a:ext cx="411480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777240"/>
            <a:ext cx="41148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795528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" y="996696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 · utf8mb4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1179576"/>
            <a:ext cx="4114800" cy="2377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1978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572768" y="1197864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UNSIGNED PK AUTO_INCREMENT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12064" y="1435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72768" y="1435608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 UNIQUE NOT NULL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84048" y="1655064"/>
            <a:ext cx="4114800" cy="2377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16733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72768" y="1673352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  bcrypt $2y$10$…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12064" y="19110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full_name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72768" y="1911096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VARCHAR(150)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84048" y="2130552"/>
            <a:ext cx="4114800" cy="2377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2148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572768" y="2148840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ENUM('admin','librarian')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12064" y="23865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572768" y="2386584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DEFAULT NOW()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73168" y="77724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73168" y="777240"/>
            <a:ext cx="41148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795528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82896" y="996696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 · INDEX(status, category)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773168" y="1179576"/>
            <a:ext cx="4114800" cy="2377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11978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961888" y="1197864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UNSIGNED PK AUTO_INCREMENT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901184" y="1435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961888" y="1435608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 NOT NULL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73168" y="1655064"/>
            <a:ext cx="4114800" cy="2377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16733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961888" y="1673352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VARCHAR(150) NOT NULL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901184" y="19110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961888" y="1911096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VARCHAR(30)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773168" y="2130552"/>
            <a:ext cx="4114800" cy="2377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01184" y="2148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961888" y="2148840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 INDEX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901184" y="23865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961888" y="2386584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UNSIGNED DEFAULT 1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773168" y="2606040"/>
            <a:ext cx="4114800" cy="2377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01184" y="26243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961888" y="2624328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ENUM('Tersedia','Dipinjam') INDEX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84048" y="2971800"/>
            <a:ext cx="411480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84048" y="2971800"/>
            <a:ext cx="41148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" y="2990088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93776" y="3191256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 · INDEX(is_active)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84048" y="3374136"/>
            <a:ext cx="4114800" cy="2377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" y="33924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572768" y="3392424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UNSIGNED PK AUTO_INCREMENT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12064" y="36301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572768" y="3630168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VARCHAR(150) NOT NULL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84048" y="3849624"/>
            <a:ext cx="4114800" cy="2377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2064" y="38679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572768" y="3867912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 NOT NULL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12064" y="41056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572768" y="4105656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VARCHAR(20)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84048" y="4325112"/>
            <a:ext cx="4114800" cy="2377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2064" y="43434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member_code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572768" y="4343400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VARCHAR(20) UNIQUE  ← MBR-001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12064" y="45811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is_active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1572768" y="4581144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TINYINT(1) DEFAULT 1  INDEX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773168" y="297180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773168" y="2971800"/>
            <a:ext cx="4114800" cy="3657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82896" y="2990088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4882896" y="3191256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 · FK(member_id, book_id) · 4 INDEX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773168" y="3374136"/>
            <a:ext cx="4114800" cy="2377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01184" y="33924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5961888" y="3392424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UNSIGNED PK AUTO_INCREMENT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901184" y="36301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member_id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961888" y="3630168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members(id) RESTRICT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773168" y="3849624"/>
            <a:ext cx="4114800" cy="2377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01184" y="38679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book_id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961888" y="3867912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books(id) RESTRICT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4901184" y="41056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borrow_date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961888" y="4105656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NOT NULL  INDEX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773168" y="4325112"/>
            <a:ext cx="4114800" cy="2377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901184" y="43434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due_date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961888" y="4343400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NOT NULL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4901184" y="45811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return_date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961888" y="4581144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DEFAULT NULL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773168" y="4800600"/>
            <a:ext cx="4114800" cy="2377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01184" y="4818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961888" y="4818888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ENUM('Dipinjam','Dikembalikan') INDEX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384048" y="482803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48640" y="47731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= Primary Key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310128" y="4828032"/>
            <a:ext cx="109728" cy="10972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474720" y="47731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= Foreign Key (ON DELETE RESTRICT)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6236208" y="482803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400800" y="47731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= Indexed column for query performance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Alur Autentikasi &amp; Keamanan Session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" y="77724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854964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8549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32688" y="81381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GET /login.php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32688" y="1051560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login + CSRF token di-generate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95728" y="1280160"/>
            <a:ext cx="0" cy="914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37160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1449324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4493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32688" y="140817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credentials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32688" y="1645920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 + csrf_token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395728" y="1874520"/>
            <a:ext cx="0" cy="914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196596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" y="2043684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0436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2688" y="200253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CSRF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32688" y="2240280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hash_equals(token, session_token) → timing-safe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395728" y="2468880"/>
            <a:ext cx="0" cy="914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256032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" y="263804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6380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2688" y="259689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users WHERE username=?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2688" y="2834640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prepared statement — no string concat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395728" y="3063240"/>
            <a:ext cx="0" cy="914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315468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" y="3232404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3232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32688" y="319125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password_verify()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32688" y="3429000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$2y$10$ — cost 10, auto-salt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395728" y="3657600"/>
            <a:ext cx="0" cy="914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374904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" y="3826764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3826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32688" y="378561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start + ID regenerate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32688" y="4023360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session_regenerate_id(true) → prevent fixation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395728" y="4251960"/>
            <a:ext cx="0" cy="914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048" y="434340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" y="442112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" y="44211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32688" y="437997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Dashboard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32688" y="4617720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header("Location: /libtrack/")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84048" y="4736592"/>
            <a:ext cx="4023360" cy="274320"/>
          </a:xfrm>
          <a:prstGeom prst="rect">
            <a:avLst/>
          </a:prstGeom>
          <a:solidFill>
            <a:srgbClr val="E11D48">
              <a:alpha val="15000"/>
            </a:srgbClr>
          </a:solidFill>
          <a:ln w="12700">
            <a:solidFill>
              <a:srgbClr val="E11D48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736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Gagal: counter++ → lockout 5 menit setelah 5x salah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17720" y="77724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17720" y="777240"/>
            <a:ext cx="420624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813816"/>
            <a:ext cx="237744" cy="237744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4974336" y="7772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4700016" y="12435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828032" y="11795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random_bytes(32) → bin2hex → 64-char token</a:t>
            </a:r>
            <a:endParaRPr lang="en-US" sz="880" dirty="0"/>
          </a:p>
        </p:txBody>
      </p:sp>
      <p:sp>
        <p:nvSpPr>
          <p:cNvPr id="54" name="Shape 51"/>
          <p:cNvSpPr/>
          <p:nvPr/>
        </p:nvSpPr>
        <p:spPr>
          <a:xfrm>
            <a:off x="4700016" y="1481328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828032" y="14173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Disimpan di $_SESSION["csrf_token"]</a:t>
            </a:r>
            <a:endParaRPr lang="en-US" sz="880" dirty="0"/>
          </a:p>
        </p:txBody>
      </p:sp>
      <p:sp>
        <p:nvSpPr>
          <p:cNvPr id="56" name="Shape 53"/>
          <p:cNvSpPr/>
          <p:nvPr/>
        </p:nvSpPr>
        <p:spPr>
          <a:xfrm>
            <a:off x="4700016" y="1719072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828032" y="16550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Validasi: hash_equals() tahan timing attack</a:t>
            </a:r>
            <a:endParaRPr lang="en-US" sz="880" dirty="0"/>
          </a:p>
        </p:txBody>
      </p:sp>
      <p:sp>
        <p:nvSpPr>
          <p:cNvPr id="58" name="Shape 55"/>
          <p:cNvSpPr/>
          <p:nvPr/>
        </p:nvSpPr>
        <p:spPr>
          <a:xfrm>
            <a:off x="4700016" y="195681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828032" y="18928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form POST/GET sensitif wajib token</a:t>
            </a:r>
            <a:endParaRPr lang="en-US" sz="880" dirty="0"/>
          </a:p>
        </p:txBody>
      </p:sp>
      <p:sp>
        <p:nvSpPr>
          <p:cNvPr id="60" name="Shape 57"/>
          <p:cNvSpPr/>
          <p:nvPr/>
        </p:nvSpPr>
        <p:spPr>
          <a:xfrm>
            <a:off x="4617720" y="2203704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4617720" y="2203704"/>
            <a:ext cx="4206240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6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240280"/>
            <a:ext cx="237744" cy="237744"/>
          </a:xfrm>
          <a:prstGeom prst="rect">
            <a:avLst/>
          </a:prstGeom>
        </p:spPr>
      </p:pic>
      <p:sp>
        <p:nvSpPr>
          <p:cNvPr id="63" name="Text 59"/>
          <p:cNvSpPr/>
          <p:nvPr/>
        </p:nvSpPr>
        <p:spPr>
          <a:xfrm>
            <a:off x="4974336" y="22037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Security</a:t>
            </a:r>
            <a:endParaRPr lang="en-US" sz="1100" dirty="0"/>
          </a:p>
        </p:txBody>
      </p:sp>
      <p:sp>
        <p:nvSpPr>
          <p:cNvPr id="64" name="Shape 60"/>
          <p:cNvSpPr/>
          <p:nvPr/>
        </p:nvSpPr>
        <p:spPr>
          <a:xfrm>
            <a:off x="4700016" y="2670048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4828032" y="26060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flag → JS tidak bisa akses cookie</a:t>
            </a:r>
            <a:endParaRPr lang="en-US" sz="880" dirty="0"/>
          </a:p>
        </p:txBody>
      </p:sp>
      <p:sp>
        <p:nvSpPr>
          <p:cNvPr id="66" name="Shape 62"/>
          <p:cNvSpPr/>
          <p:nvPr/>
        </p:nvSpPr>
        <p:spPr>
          <a:xfrm>
            <a:off x="4700016" y="2907792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4828032" y="28437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SameSite=Lax → CSRF mitigasi tambahan</a:t>
            </a:r>
            <a:endParaRPr lang="en-US" sz="880" dirty="0"/>
          </a:p>
        </p:txBody>
      </p:sp>
      <p:sp>
        <p:nvSpPr>
          <p:cNvPr id="68" name="Shape 64"/>
          <p:cNvSpPr/>
          <p:nvPr/>
        </p:nvSpPr>
        <p:spPr>
          <a:xfrm>
            <a:off x="4700016" y="3145536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4828032" y="30815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session_regenerate_id(true) setelah login</a:t>
            </a:r>
            <a:endParaRPr lang="en-US" sz="880" dirty="0"/>
          </a:p>
        </p:txBody>
      </p:sp>
      <p:sp>
        <p:nvSpPr>
          <p:cNvPr id="70" name="Shape 66"/>
          <p:cNvSpPr/>
          <p:nvPr/>
        </p:nvSpPr>
        <p:spPr>
          <a:xfrm>
            <a:off x="4700016" y="3383280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4828032" y="33192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lockout: 5 percobaan → blokir 5 menit</a:t>
            </a:r>
            <a:endParaRPr lang="en-US" sz="880" dirty="0"/>
          </a:p>
        </p:txBody>
      </p:sp>
      <p:sp>
        <p:nvSpPr>
          <p:cNvPr id="72" name="Shape 68"/>
          <p:cNvSpPr/>
          <p:nvPr/>
        </p:nvSpPr>
        <p:spPr>
          <a:xfrm>
            <a:off x="4617720" y="3630168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73" name="Shape 69"/>
          <p:cNvSpPr/>
          <p:nvPr/>
        </p:nvSpPr>
        <p:spPr>
          <a:xfrm>
            <a:off x="4617720" y="3630168"/>
            <a:ext cx="4206240" cy="31089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7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3666744"/>
            <a:ext cx="237744" cy="237744"/>
          </a:xfrm>
          <a:prstGeom prst="rect">
            <a:avLst/>
          </a:prstGeom>
        </p:spPr>
      </p:pic>
      <p:sp>
        <p:nvSpPr>
          <p:cNvPr id="75" name="Text 70"/>
          <p:cNvSpPr/>
          <p:nvPr/>
        </p:nvSpPr>
        <p:spPr>
          <a:xfrm>
            <a:off x="4974336" y="36301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Sanitization</a:t>
            </a:r>
            <a:endParaRPr lang="en-US" sz="1100" dirty="0"/>
          </a:p>
        </p:txBody>
      </p:sp>
      <p:sp>
        <p:nvSpPr>
          <p:cNvPr id="76" name="Shape 71"/>
          <p:cNvSpPr/>
          <p:nvPr/>
        </p:nvSpPr>
        <p:spPr>
          <a:xfrm>
            <a:off x="4700016" y="4096512"/>
            <a:ext cx="73152" cy="7315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7" name="Text 72"/>
          <p:cNvSpPr/>
          <p:nvPr/>
        </p:nvSpPr>
        <p:spPr>
          <a:xfrm>
            <a:off x="4828032" y="40325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cleanInput(): strip_tags() + trim()</a:t>
            </a:r>
            <a:endParaRPr lang="en-US" sz="880" dirty="0"/>
          </a:p>
        </p:txBody>
      </p:sp>
      <p:sp>
        <p:nvSpPr>
          <p:cNvPr id="78" name="Shape 73"/>
          <p:cNvSpPr/>
          <p:nvPr/>
        </p:nvSpPr>
        <p:spPr>
          <a:xfrm>
            <a:off x="4700016" y="4334256"/>
            <a:ext cx="73152" cy="7315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9" name="Text 74"/>
          <p:cNvSpPr/>
          <p:nvPr/>
        </p:nvSpPr>
        <p:spPr>
          <a:xfrm>
            <a:off x="4828032" y="42702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e(): htmlspecialchars(ENT_QUOTES, UTF-8)</a:t>
            </a:r>
            <a:endParaRPr lang="en-US" sz="880" dirty="0"/>
          </a:p>
        </p:txBody>
      </p:sp>
      <p:sp>
        <p:nvSpPr>
          <p:cNvPr id="80" name="Shape 75"/>
          <p:cNvSpPr/>
          <p:nvPr/>
        </p:nvSpPr>
        <p:spPr>
          <a:xfrm>
            <a:off x="4700016" y="4572000"/>
            <a:ext cx="73152" cy="7315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1" name="Text 76"/>
          <p:cNvSpPr/>
          <p:nvPr/>
        </p:nvSpPr>
        <p:spPr>
          <a:xfrm>
            <a:off x="4828032" y="45079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ATTR_EMULATE_PREPARES = false</a:t>
            </a:r>
            <a:endParaRPr lang="en-US" sz="880" dirty="0"/>
          </a:p>
        </p:txBody>
      </p:sp>
      <p:sp>
        <p:nvSpPr>
          <p:cNvPr id="82" name="Shape 77"/>
          <p:cNvSpPr/>
          <p:nvPr/>
        </p:nvSpPr>
        <p:spPr>
          <a:xfrm>
            <a:off x="4700016" y="4809744"/>
            <a:ext cx="73152" cy="7315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3" name="Text 78"/>
          <p:cNvSpPr/>
          <p:nvPr/>
        </p:nvSpPr>
        <p:spPr>
          <a:xfrm>
            <a:off x="4828032" y="47457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prepared statements di semua query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Dashboard — index.php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" y="749808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749808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877824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Buku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166420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COUNT(*) FROM books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2578608" y="749808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78608" y="749808"/>
            <a:ext cx="19202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877824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70048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Anggota Aktif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651760" y="166420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is_active = 1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4773168" y="749808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73168" y="749808"/>
            <a:ext cx="19202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877824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64608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Sedang Dipinjam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846320" y="166420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'Dipinjam'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6967728" y="749808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67728" y="749808"/>
            <a:ext cx="192024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877824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59168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Terlambat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040880" y="166420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status='Dipinjam'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due_date &lt; CURDATE()</a:t>
            </a:r>
            <a:endParaRPr lang="en-US" sz="700" dirty="0"/>
          </a:p>
        </p:txBody>
      </p:sp>
      <p:sp>
        <p:nvSpPr>
          <p:cNvPr id="25" name="Shape 19"/>
          <p:cNvSpPr/>
          <p:nvPr/>
        </p:nvSpPr>
        <p:spPr>
          <a:xfrm>
            <a:off x="384048" y="2084832"/>
            <a:ext cx="274320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84048" y="2084832"/>
            <a:ext cx="274320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93776" y="208483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Ketersediaan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93776" y="2560320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21792" y="24963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Tersedia vs Dipinjam</a:t>
            </a:r>
            <a:endParaRPr lang="en-US" sz="880" dirty="0"/>
          </a:p>
        </p:txBody>
      </p:sp>
      <p:sp>
        <p:nvSpPr>
          <p:cNvPr id="30" name="Shape 24"/>
          <p:cNvSpPr/>
          <p:nvPr/>
        </p:nvSpPr>
        <p:spPr>
          <a:xfrm>
            <a:off x="493776" y="2816352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21792" y="27523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COUNT(status=Tersedia) / total × 100</a:t>
            </a:r>
            <a:endParaRPr lang="en-US" sz="880" dirty="0"/>
          </a:p>
        </p:txBody>
      </p:sp>
      <p:sp>
        <p:nvSpPr>
          <p:cNvPr id="32" name="Shape 26"/>
          <p:cNvSpPr/>
          <p:nvPr/>
        </p:nvSpPr>
        <p:spPr>
          <a:xfrm>
            <a:off x="493776" y="3072384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21792" y="30083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progress bar: teal + amber</a:t>
            </a:r>
            <a:endParaRPr lang="en-US" sz="880" dirty="0"/>
          </a:p>
        </p:txBody>
      </p:sp>
      <p:sp>
        <p:nvSpPr>
          <p:cNvPr id="34" name="Shape 28"/>
          <p:cNvSpPr/>
          <p:nvPr/>
        </p:nvSpPr>
        <p:spPr>
          <a:xfrm>
            <a:off x="493776" y="3328416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21792" y="32644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real-time setiap page load</a:t>
            </a:r>
            <a:endParaRPr lang="en-US" sz="880" dirty="0"/>
          </a:p>
        </p:txBody>
      </p:sp>
      <p:sp>
        <p:nvSpPr>
          <p:cNvPr id="36" name="Shape 30"/>
          <p:cNvSpPr/>
          <p:nvPr/>
        </p:nvSpPr>
        <p:spPr>
          <a:xfrm>
            <a:off x="475488" y="3602736"/>
            <a:ext cx="2560320" cy="123444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30352" y="3639312"/>
            <a:ext cx="2468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status, COUNT(*) AS 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books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status</a:t>
            </a:r>
            <a:endParaRPr lang="en-US" sz="800" dirty="0"/>
          </a:p>
        </p:txBody>
      </p:sp>
      <p:sp>
        <p:nvSpPr>
          <p:cNvPr id="38" name="Shape 32"/>
          <p:cNvSpPr/>
          <p:nvPr/>
        </p:nvSpPr>
        <p:spPr>
          <a:xfrm>
            <a:off x="3291840" y="2084832"/>
            <a:ext cx="274320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3291840" y="2084832"/>
            <a:ext cx="274320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3401568" y="208483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Buku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3401568" y="2560320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3529584" y="24963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per kategori (max 8)</a:t>
            </a:r>
            <a:endParaRPr lang="en-US" sz="880" dirty="0"/>
          </a:p>
        </p:txBody>
      </p:sp>
      <p:sp>
        <p:nvSpPr>
          <p:cNvPr id="43" name="Shape 37"/>
          <p:cNvSpPr/>
          <p:nvPr/>
        </p:nvSpPr>
        <p:spPr>
          <a:xfrm>
            <a:off x="3401568" y="281635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3529584" y="27523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Lebar bar proportional to count</a:t>
            </a:r>
            <a:endParaRPr lang="en-US" sz="880" dirty="0"/>
          </a:p>
        </p:txBody>
      </p:sp>
      <p:sp>
        <p:nvSpPr>
          <p:cNvPr id="45" name="Shape 39"/>
          <p:cNvSpPr/>
          <p:nvPr/>
        </p:nvSpPr>
        <p:spPr>
          <a:xfrm>
            <a:off x="3401568" y="307238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3529584" y="30083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category ORDER BY COUNT DESC</a:t>
            </a:r>
            <a:endParaRPr lang="en-US" sz="880" dirty="0"/>
          </a:p>
        </p:txBody>
      </p:sp>
      <p:sp>
        <p:nvSpPr>
          <p:cNvPr id="47" name="Shape 41"/>
          <p:cNvSpPr/>
          <p:nvPr/>
        </p:nvSpPr>
        <p:spPr>
          <a:xfrm>
            <a:off x="3401568" y="332841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3529584" y="32644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 berbeda per baris</a:t>
            </a:r>
            <a:endParaRPr lang="en-US" sz="880" dirty="0"/>
          </a:p>
        </p:txBody>
      </p:sp>
      <p:sp>
        <p:nvSpPr>
          <p:cNvPr id="49" name="Shape 43"/>
          <p:cNvSpPr/>
          <p:nvPr/>
        </p:nvSpPr>
        <p:spPr>
          <a:xfrm>
            <a:off x="3383280" y="3602736"/>
            <a:ext cx="2560320" cy="123444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3438144" y="3639312"/>
            <a:ext cx="2468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category, COUNT(*) 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books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category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n DESC LIMIT 8</a:t>
            </a:r>
            <a:endParaRPr lang="en-US" sz="800" dirty="0"/>
          </a:p>
        </p:txBody>
      </p:sp>
      <p:sp>
        <p:nvSpPr>
          <p:cNvPr id="51" name="Shape 45"/>
          <p:cNvSpPr/>
          <p:nvPr/>
        </p:nvSpPr>
        <p:spPr>
          <a:xfrm>
            <a:off x="6199632" y="2084832"/>
            <a:ext cx="274320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52" name="Shape 46"/>
          <p:cNvSpPr/>
          <p:nvPr/>
        </p:nvSpPr>
        <p:spPr>
          <a:xfrm>
            <a:off x="6199632" y="2084832"/>
            <a:ext cx="2743200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6309360" y="208483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Terbaru</a:t>
            </a:r>
            <a:endParaRPr lang="en-US" sz="1050" dirty="0"/>
          </a:p>
        </p:txBody>
      </p:sp>
      <p:sp>
        <p:nvSpPr>
          <p:cNvPr id="54" name="Shape 48"/>
          <p:cNvSpPr/>
          <p:nvPr/>
        </p:nvSpPr>
        <p:spPr>
          <a:xfrm>
            <a:off x="6309360" y="2560320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6437376" y="24963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transaksi terbaru, ORDER BY created_at</a:t>
            </a:r>
            <a:endParaRPr lang="en-US" sz="880" dirty="0"/>
          </a:p>
        </p:txBody>
      </p:sp>
      <p:sp>
        <p:nvSpPr>
          <p:cNvPr id="56" name="Shape 50"/>
          <p:cNvSpPr/>
          <p:nvPr/>
        </p:nvSpPr>
        <p:spPr>
          <a:xfrm>
            <a:off x="6309360" y="2816352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6437376" y="27523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members + books per baris</a:t>
            </a:r>
            <a:endParaRPr lang="en-US" sz="880" dirty="0"/>
          </a:p>
        </p:txBody>
      </p:sp>
      <p:sp>
        <p:nvSpPr>
          <p:cNvPr id="58" name="Shape 52"/>
          <p:cNvSpPr/>
          <p:nvPr/>
        </p:nvSpPr>
        <p:spPr>
          <a:xfrm>
            <a:off x="6309360" y="3072384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6437376" y="30083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overdue jika due_date &lt; CURDATE()</a:t>
            </a:r>
            <a:endParaRPr lang="en-US" sz="880" dirty="0"/>
          </a:p>
        </p:txBody>
      </p:sp>
      <p:sp>
        <p:nvSpPr>
          <p:cNvPr id="60" name="Shape 54"/>
          <p:cNvSpPr/>
          <p:nvPr/>
        </p:nvSpPr>
        <p:spPr>
          <a:xfrm>
            <a:off x="6309360" y="3328416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6437376" y="32644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ke histori lengkap</a:t>
            </a:r>
            <a:endParaRPr lang="en-US" sz="880" dirty="0"/>
          </a:p>
        </p:txBody>
      </p:sp>
      <p:sp>
        <p:nvSpPr>
          <p:cNvPr id="62" name="Shape 56"/>
          <p:cNvSpPr/>
          <p:nvPr/>
        </p:nvSpPr>
        <p:spPr>
          <a:xfrm>
            <a:off x="6291072" y="3602736"/>
            <a:ext cx="2560320" cy="123444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6345936" y="3639312"/>
            <a:ext cx="2468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t.*, m.name, b.title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transactions 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members m ON t.member_id=m.id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books b ON t.book_id=b.id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t.created_at DESC LIMIT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Modul Manajemen Buku — views/books/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" y="77724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777240"/>
            <a:ext cx="54864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3210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INDEX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106424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books/index.php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30352" y="1325880"/>
            <a:ext cx="3822192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4416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books ORDER BY created_at DESC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384048" y="1801368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1801368"/>
            <a:ext cx="54864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85623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CREATE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2130552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books/create.php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30352" y="2350008"/>
            <a:ext cx="3822192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36829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books (title,author,isbn,...) VALUES (?)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384048" y="2825496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825496"/>
            <a:ext cx="54864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88036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EDIT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3154680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books/edit.php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0352" y="3374136"/>
            <a:ext cx="3822192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924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books SET title=?,author=?,... WHERE id=?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384048" y="3849624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3849624"/>
            <a:ext cx="54864" cy="9144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90448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DELETE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" y="4178808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books/delete.php (POST)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30352" y="4398264"/>
            <a:ext cx="3822192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4165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books WHERE id=? (cek status≠Dipinjam dulu)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617720" y="777240"/>
            <a:ext cx="42062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777240"/>
            <a:ext cx="420624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777240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&amp; Constraint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36592" y="11704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author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870448" y="117043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diisi — not empty check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36592" y="14081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70448" y="140817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check sebelum INSERT/UPDATE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36592" y="16459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870448" y="164592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antara 1800 – tahun sekarang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36592" y="1883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870448" y="188366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≥ 1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36592" y="21214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870448" y="212140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ENUM('Tersedia','Dipinjam') — auto-controlled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36592" y="23591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70448" y="235915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&lt;datalist&gt; autocomplete dari DB GROUP BY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36592" y="25968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constraint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870448" y="259689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Blokir jika status = Dipinjam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17720" y="3044952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17720" y="3044952"/>
            <a:ext cx="4206240" cy="31089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36592" y="3044952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— books.status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46320" y="3493008"/>
            <a:ext cx="1554480" cy="64008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349300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'Tersedia'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949440" y="3493008"/>
            <a:ext cx="1554480" cy="6400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9440" y="349300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'Dipinjam'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400800" y="3712464"/>
            <a:ext cx="54864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0" y="35478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→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400800" y="3913632"/>
            <a:ext cx="5486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6400800" y="393192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return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736592" y="4279392"/>
            <a:ext cx="3968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books.status dikontrol eksklusif oleh transactions — bukan user input langsung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Modul Manajemen Anggota — views/members/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" y="77724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960120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60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32688" y="85039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Registrasi Anggota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32688" y="1161288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form: nama, email, telepon, alamat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1581912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176479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" y="165506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Kode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32688" y="19659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MAX(id)+1 → str_pad 3 digit → "MBR-NNN"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2386584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2569464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569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32688" y="2459736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ke DB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2688" y="2770632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prepared statement + member_code UNIQUE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3191256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3374136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2688" y="326440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Data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32688" y="3575304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nama, email, telepon, status is_active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4048" y="3995928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" y="4178808"/>
            <a:ext cx="347472" cy="34747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178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32688" y="406908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Nonaktifkan / Hapus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32688" y="4379976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diblokir jika ada transaksi aktif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17720" y="777240"/>
            <a:ext cx="4206240" cy="18288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36592" y="82296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Kode Anggota (helpers.php)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36592" y="1133856"/>
            <a:ext cx="3968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generateMemberCode($pdo): string {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36592" y="1316736"/>
            <a:ext cx="3968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$row = $pdo-&gt;query(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36592" y="1499616"/>
            <a:ext cx="3968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"SELECT MAX(id) AS max_id FROM members"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36592" y="1682496"/>
            <a:ext cx="3968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)-&gt;fetch();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36592" y="1865376"/>
            <a:ext cx="3968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$next = ($row["max_id"] ?? 0) + 1;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36592" y="2048256"/>
            <a:ext cx="3968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"MBR-".str_pad($next,3,"0",STR_PAD_LEFT);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36592" y="2231136"/>
            <a:ext cx="3968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17720" y="2743200"/>
            <a:ext cx="420624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17720" y="2743200"/>
            <a:ext cx="4206240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2743200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Validasi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17720" y="3127248"/>
            <a:ext cx="4206240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3145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687568" y="314553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diisi, string tidak kosong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36592" y="34381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687568" y="343814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filter_var(FILTER_VALIDATE_EMAIL), unique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17720" y="3712464"/>
            <a:ext cx="4206240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36592" y="3730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member_code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687568" y="37307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Auto-generated, tidak bisa diubah user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736592" y="4023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is_active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687568" y="40233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TINYINT 1/0 via checkbox, default 1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17720" y="4297680"/>
            <a:ext cx="4206240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36592" y="4315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hapus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687568" y="431596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FK: ada baris transactions? → RESTRICT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736592" y="46085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687568" y="460857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unique kecuali ID yang sama (self-check)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Transaksi Peminjaman — views/transactions/borrow.php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" y="749808"/>
            <a:ext cx="155448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804672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87552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Anggota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48132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Dropdown: is_active=1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38528" y="1207008"/>
            <a:ext cx="164592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749808"/>
            <a:ext cx="155448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06624" y="804672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06624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06624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76272" y="12070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Buku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57984" y="148132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status='Tersedia'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0" y="1207008"/>
            <a:ext cx="164592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22192" y="749808"/>
            <a:ext cx="155448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25696" y="804672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25696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25696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95344" y="12070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Tanggal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77056" y="148132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borrow+due_date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376672" y="1207008"/>
            <a:ext cx="164592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41264" y="749808"/>
            <a:ext cx="155448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44768" y="804672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44768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14416" y="12070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596128" y="148132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check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095744" y="1207008"/>
            <a:ext cx="164592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60336" y="749808"/>
            <a:ext cx="1554480" cy="9144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863840" y="804672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0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63840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33488" y="12070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DB Txn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315200" y="148132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→ insert → update → commit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84048" y="1810512"/>
            <a:ext cx="8458200" cy="1481328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8640" y="185623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DB Transaction — borrow.php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6928" y="2139696"/>
            <a:ext cx="8229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$pdo-&gt;beginTransaction();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66928" y="2331720"/>
            <a:ext cx="8229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 = $pdo-&gt;prepare("INSERT INTO transactions (member_id,book_id,borrow_date,due_date,status) VALUES (?,?,?,?,'Dipinjam')");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66928" y="2523744"/>
            <a:ext cx="8229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$stmt-&gt;execute([$member_id, $book_id, $borrow_date, $due_date]);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66928" y="2715768"/>
            <a:ext cx="8229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$upd = $pdo-&gt;prepare("UPDATE books SET status='Dipinjam' WHERE id=?");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66928" y="2907792"/>
            <a:ext cx="8229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$upd-&gt;execute([$book_id]);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66928" y="3099816"/>
            <a:ext cx="8229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$pdo-&gt;commit();   // rollback() otomatis jika ada exception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84048" y="340156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84048" y="3401568"/>
            <a:ext cx="274320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438144"/>
            <a:ext cx="237744" cy="237744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768096" y="34015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Pengembalian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93776" y="3867912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21792" y="37856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SweetAlert2 konfirmasi dulu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493776" y="4142232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21792" y="40599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transactions SET return_date=CURDATE(), status=Dikembalikan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493776" y="4416552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21792" y="43342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books SET status='Tersedia'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493776" y="4690872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21792" y="46085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dalam beginTransaction()/commit()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3291840" y="340156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3291840" y="3401568"/>
            <a:ext cx="2743200" cy="31089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6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3438144"/>
            <a:ext cx="237744" cy="237744"/>
          </a:xfrm>
          <a:prstGeom prst="rect">
            <a:avLst/>
          </a:prstGeom>
        </p:spPr>
      </p:pic>
      <p:sp>
        <p:nvSpPr>
          <p:cNvPr id="62" name="Text 58"/>
          <p:cNvSpPr/>
          <p:nvPr/>
        </p:nvSpPr>
        <p:spPr>
          <a:xfrm>
            <a:off x="3675888" y="34015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Overdue</a:t>
            </a:r>
            <a:endParaRPr lang="en-US" sz="1100" dirty="0"/>
          </a:p>
        </p:txBody>
      </p:sp>
      <p:sp>
        <p:nvSpPr>
          <p:cNvPr id="63" name="Shape 59"/>
          <p:cNvSpPr/>
          <p:nvPr/>
        </p:nvSpPr>
        <p:spPr>
          <a:xfrm>
            <a:off x="3401568" y="3867912"/>
            <a:ext cx="73152" cy="7315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3529584" y="37856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due_date &lt; CURDATE() AND status='Dipinjam'</a:t>
            </a:r>
            <a:endParaRPr lang="en-US" sz="850" dirty="0"/>
          </a:p>
        </p:txBody>
      </p:sp>
      <p:sp>
        <p:nvSpPr>
          <p:cNvPr id="65" name="Shape 61"/>
          <p:cNvSpPr/>
          <p:nvPr/>
        </p:nvSpPr>
        <p:spPr>
          <a:xfrm>
            <a:off x="3401568" y="4142232"/>
            <a:ext cx="73152" cy="7315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3529584" y="40599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"Terlambat" + hitung +N hari</a:t>
            </a:r>
            <a:endParaRPr lang="en-US" sz="850" dirty="0"/>
          </a:p>
        </p:txBody>
      </p:sp>
      <p:sp>
        <p:nvSpPr>
          <p:cNvPr id="67" name="Shape 63"/>
          <p:cNvSpPr/>
          <p:nvPr/>
        </p:nvSpPr>
        <p:spPr>
          <a:xfrm>
            <a:off x="3401568" y="4416552"/>
            <a:ext cx="73152" cy="7315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3529584" y="43342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highlight merah di tabel aktif</a:t>
            </a:r>
            <a:endParaRPr lang="en-US" sz="850" dirty="0"/>
          </a:p>
        </p:txBody>
      </p:sp>
      <p:sp>
        <p:nvSpPr>
          <p:cNvPr id="69" name="Shape 65"/>
          <p:cNvSpPr/>
          <p:nvPr/>
        </p:nvSpPr>
        <p:spPr>
          <a:xfrm>
            <a:off x="3401568" y="4690872"/>
            <a:ext cx="73152" cy="7315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3529584" y="46085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overdue tampil di KPI dashboard</a:t>
            </a:r>
            <a:endParaRPr lang="en-US" sz="850" dirty="0"/>
          </a:p>
        </p:txBody>
      </p:sp>
      <p:sp>
        <p:nvSpPr>
          <p:cNvPr id="71" name="Shape 67"/>
          <p:cNvSpPr/>
          <p:nvPr/>
        </p:nvSpPr>
        <p:spPr>
          <a:xfrm>
            <a:off x="6199632" y="340156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72" name="Shape 68"/>
          <p:cNvSpPr/>
          <p:nvPr/>
        </p:nvSpPr>
        <p:spPr>
          <a:xfrm>
            <a:off x="6199632" y="3401568"/>
            <a:ext cx="274320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7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3438144"/>
            <a:ext cx="237744" cy="237744"/>
          </a:xfrm>
          <a:prstGeom prst="rect">
            <a:avLst/>
          </a:prstGeom>
        </p:spPr>
      </p:pic>
      <p:sp>
        <p:nvSpPr>
          <p:cNvPr id="74" name="Text 69"/>
          <p:cNvSpPr/>
          <p:nvPr/>
        </p:nvSpPr>
        <p:spPr>
          <a:xfrm>
            <a:off x="6583680" y="34015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 Transaksi</a:t>
            </a:r>
            <a:endParaRPr lang="en-US" sz="1100" dirty="0"/>
          </a:p>
        </p:txBody>
      </p:sp>
      <p:sp>
        <p:nvSpPr>
          <p:cNvPr id="75" name="Shape 70"/>
          <p:cNvSpPr/>
          <p:nvPr/>
        </p:nvSpPr>
        <p:spPr>
          <a:xfrm>
            <a:off x="6309360" y="386791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6" name="Text 71"/>
          <p:cNvSpPr/>
          <p:nvPr/>
        </p:nvSpPr>
        <p:spPr>
          <a:xfrm>
            <a:off x="6437376" y="37856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3 tabel: transactions + members + books</a:t>
            </a:r>
            <a:endParaRPr lang="en-US" sz="850" dirty="0"/>
          </a:p>
        </p:txBody>
      </p:sp>
      <p:sp>
        <p:nvSpPr>
          <p:cNvPr id="77" name="Shape 72"/>
          <p:cNvSpPr/>
          <p:nvPr/>
        </p:nvSpPr>
        <p:spPr>
          <a:xfrm>
            <a:off x="6309360" y="414223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8" name="Text 73"/>
          <p:cNvSpPr/>
          <p:nvPr/>
        </p:nvSpPr>
        <p:spPr>
          <a:xfrm>
            <a:off x="6437376" y="40599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status: Dipinjam / Dikembalikan / Terlambat</a:t>
            </a:r>
            <a:endParaRPr lang="en-US" sz="850" dirty="0"/>
          </a:p>
        </p:txBody>
      </p:sp>
      <p:sp>
        <p:nvSpPr>
          <p:cNvPr id="79" name="Shape 74"/>
          <p:cNvSpPr/>
          <p:nvPr/>
        </p:nvSpPr>
        <p:spPr>
          <a:xfrm>
            <a:off x="6309360" y="441655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0" name="Text 75"/>
          <p:cNvSpPr/>
          <p:nvPr/>
        </p:nvSpPr>
        <p:spPr>
          <a:xfrm>
            <a:off x="6437376" y="43342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borrow_date DESC</a:t>
            </a:r>
            <a:endParaRPr lang="en-US" sz="850" dirty="0"/>
          </a:p>
        </p:txBody>
      </p:sp>
      <p:sp>
        <p:nvSpPr>
          <p:cNvPr id="81" name="Shape 76"/>
          <p:cNvSpPr/>
          <p:nvPr/>
        </p:nvSpPr>
        <p:spPr>
          <a:xfrm>
            <a:off x="6309360" y="469087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2" name="Text 77"/>
          <p:cNvSpPr/>
          <p:nvPr/>
        </p:nvSpPr>
        <p:spPr>
          <a:xfrm>
            <a:off x="6437376" y="46085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DataTables: search, sort, paginate, bahasa ID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Deployment — Docker &amp; XAMPP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" y="777240"/>
            <a:ext cx="40233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777240"/>
            <a:ext cx="40233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77724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(Recommended)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1243584"/>
            <a:ext cx="3785616" cy="7132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1243584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1280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1792" y="15179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image: php:8.2-apache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21792" y="17190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8080:80  |  Volume mount /libtrack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02920" y="2048256"/>
            <a:ext cx="3785616" cy="7132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2048256"/>
            <a:ext cx="54864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2084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1792" y="23225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image: mysql:8.0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21792" y="252374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3306  |  libtrack_db + seed data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02920" y="2852928"/>
            <a:ext cx="3785616" cy="7132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" y="2852928"/>
            <a:ext cx="54864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" y="28895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phpmyadmin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1792" y="31272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image: phpmyadmin/phpmyadmin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21792" y="33284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8081:80  |  DB GUI admin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02920" y="3694176"/>
            <a:ext cx="3785616" cy="109728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" y="37490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semua service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58368" y="39502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58368" y="43525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Akses app: localhost:8080/libtrack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58368" y="45537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Login: admin / admin123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90288" y="777240"/>
            <a:ext cx="42062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590288" y="777240"/>
            <a:ext cx="420624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09160" y="777240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 (Fallback)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709160" y="1207008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Copy folder ke htdocs/libtrack/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709160" y="1536192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Buat DB libtrack_db di phpMyAdmin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709160" y="1865376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Import database.sql via Import tab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709160" y="219456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Start Apache + MySQL di Control Panel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4709160" y="2523744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Akses: localhost/libtrack → login admin/admin123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90288" y="3044952"/>
            <a:ext cx="4206240" cy="1892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590288" y="3044952"/>
            <a:ext cx="420624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09160" y="3044952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config/database.php — ENV Config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709160" y="3438144"/>
            <a:ext cx="3968496" cy="13716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791456" y="349300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$host = getenv("DB_HOST") ?: "db";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791456" y="373075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 = getenv("DB_NAME") ?: "libtrack_db";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791456" y="396849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$user = getenv("DB_USER") ?: "root";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4791456" y="420624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$pass = getenv("DB_PASS") ?: "";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791456" y="444398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Docker: DB_HOST=db  |  XAMPP: DB_HOST=localhost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Alur Sistem End-to-End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permintaan melewati autentikasi session + CSRF validation + PDO prepared statements + output escaping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84048" y="987552"/>
            <a:ext cx="1901952" cy="169164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1152144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27632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1956816"/>
            <a:ext cx="1755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verify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regenerate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286000" y="1810512"/>
            <a:ext cx="24688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32888" y="987552"/>
            <a:ext cx="1901952" cy="169164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976" y="1152144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06040" y="1627632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606040" y="1956816"/>
            <a:ext cx="1755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queries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txn JOIN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chart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434840" y="1810512"/>
            <a:ext cx="24688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81728" y="987552"/>
            <a:ext cx="1901952" cy="169164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1152144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54880" y="1627632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Buku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754880" y="1956816"/>
            <a:ext cx="1755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validasi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 unique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ENUM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583680" y="1810512"/>
            <a:ext cx="24688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30568" y="987552"/>
            <a:ext cx="1901952" cy="1691640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152144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03720" y="1627632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Anggota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903720" y="1956816"/>
            <a:ext cx="1755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Registrasi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kode MBR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toggle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384048" y="2907792"/>
            <a:ext cx="1901952" cy="1691640"/>
          </a:xfrm>
          <a:prstGeom prst="rect">
            <a:avLst/>
          </a:prstGeom>
          <a:solidFill>
            <a:srgbClr val="E11D48">
              <a:alpha val="12000"/>
            </a:srgbClr>
          </a:solidFill>
          <a:ln w="12700">
            <a:solidFill>
              <a:srgbClr val="E11D48">
                <a:alpha val="40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" y="3072384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57200" y="3547872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Pinjam Buku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57200" y="3877056"/>
            <a:ext cx="1755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ganda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INSERT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Dipinjam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2286000" y="3730752"/>
            <a:ext cx="24688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2532888" y="2907792"/>
            <a:ext cx="1901952" cy="1691640"/>
          </a:xfrm>
          <a:prstGeom prst="rect">
            <a:avLst/>
          </a:prstGeom>
          <a:solidFill>
            <a:srgbClr val="E11D48">
              <a:alpha val="12000"/>
            </a:srgbClr>
          </a:solidFill>
          <a:ln w="12700">
            <a:solidFill>
              <a:srgbClr val="E11D48">
                <a:alpha val="40000"/>
              </a:srgbClr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6976" y="3072384"/>
            <a:ext cx="384048" cy="38404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2606040" y="3547872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Aktif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2606040" y="3877056"/>
            <a:ext cx="1755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Dipinjam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badge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 check</a:t>
            </a:r>
            <a:endParaRPr lang="en-US" sz="850" dirty="0"/>
          </a:p>
        </p:txBody>
      </p:sp>
      <p:sp>
        <p:nvSpPr>
          <p:cNvPr id="32" name="Shape 24"/>
          <p:cNvSpPr/>
          <p:nvPr/>
        </p:nvSpPr>
        <p:spPr>
          <a:xfrm>
            <a:off x="4434840" y="3730752"/>
            <a:ext cx="24688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4681728" y="2907792"/>
            <a:ext cx="1901952" cy="169164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5816" y="3072384"/>
            <a:ext cx="384048" cy="38404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754880" y="3547872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Kembalikan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4754880" y="3877056"/>
            <a:ext cx="1755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UPDATE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Dikembalikan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reset</a:t>
            </a:r>
            <a:endParaRPr lang="en-US" sz="850" dirty="0"/>
          </a:p>
        </p:txBody>
      </p:sp>
      <p:sp>
        <p:nvSpPr>
          <p:cNvPr id="37" name="Shape 28"/>
          <p:cNvSpPr/>
          <p:nvPr/>
        </p:nvSpPr>
        <p:spPr>
          <a:xfrm>
            <a:off x="6583680" y="3730752"/>
            <a:ext cx="24688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6830568" y="2907792"/>
            <a:ext cx="1901952" cy="1691640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4656" y="3072384"/>
            <a:ext cx="384048" cy="38404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903720" y="3547872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</a:t>
            </a:r>
            <a:endParaRPr lang="en-US" sz="1200" dirty="0"/>
          </a:p>
        </p:txBody>
      </p:sp>
      <p:sp>
        <p:nvSpPr>
          <p:cNvPr id="41" name="Text 31"/>
          <p:cNvSpPr/>
          <p:nvPr/>
        </p:nvSpPr>
        <p:spPr>
          <a:xfrm>
            <a:off x="6903720" y="3877056"/>
            <a:ext cx="1755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log JOIN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statuses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DataTables</a:t>
            </a:r>
            <a:endParaRPr lang="en-US" sz="850" dirty="0"/>
          </a:p>
        </p:txBody>
      </p:sp>
      <p:sp>
        <p:nvSpPr>
          <p:cNvPr id="42" name="Shape 32"/>
          <p:cNvSpPr/>
          <p:nvPr/>
        </p:nvSpPr>
        <p:spPr>
          <a:xfrm>
            <a:off x="8595360" y="2679192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43" name="Shape 33"/>
          <p:cNvSpPr/>
          <p:nvPr/>
        </p:nvSpPr>
        <p:spPr>
          <a:xfrm>
            <a:off x="384048" y="2907792"/>
            <a:ext cx="821131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384048" y="4700016"/>
            <a:ext cx="8458200" cy="32004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502920" y="4700016"/>
            <a:ext cx="8302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Session Auth  ·  CSRF Token  ·  PDO Prepared Statements  ·  htmlspecialchars()  ·  bcrypt  ·  Login Lockout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Stack Teknis — Frontend &amp; Backend Libraries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" y="749808"/>
            <a:ext cx="1993392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749808"/>
            <a:ext cx="199339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4980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" y="1170432"/>
            <a:ext cx="1810512" cy="676656"/>
          </a:xfrm>
          <a:prstGeom prst="rect">
            <a:avLst/>
          </a:prstGeom>
          <a:solidFill>
            <a:srgbClr val="F8F9FA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20700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Bootstrap 5.3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481328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grid, komponen UI, dark/light mode support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5488" y="1938528"/>
            <a:ext cx="181051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97510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Bootstrap Icons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224942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set 2000+ SVG, in-line dengan class bi bi-*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488" y="2706624"/>
            <a:ext cx="1810512" cy="676656"/>
          </a:xfrm>
          <a:prstGeom prst="rect">
            <a:avLst/>
          </a:prstGeom>
          <a:solidFill>
            <a:srgbClr val="F8F9FA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74320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DataTables 1.13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0352" y="301752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ready, search/sort/paginate, bahasa Indonesia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5488" y="3474720"/>
            <a:ext cx="181051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511296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SweetAlert2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378561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dialog interaktif, konfirmasi hapus/return buku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5488" y="4242816"/>
            <a:ext cx="1810512" cy="676656"/>
          </a:xfrm>
          <a:prstGeom prst="rect">
            <a:avLst/>
          </a:prstGeom>
          <a:solidFill>
            <a:srgbClr val="F8F9FA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427939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Syne + Plus Jakarta Sans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0352" y="4553712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Google Fonts lewat CDN, tersimpan di CSS vars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60320" y="749808"/>
            <a:ext cx="1993392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0" y="749808"/>
            <a:ext cx="199339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33472" y="74980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PHP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51760" y="1170432"/>
            <a:ext cx="1810512" cy="676656"/>
          </a:xfrm>
          <a:prstGeom prst="rect">
            <a:avLst/>
          </a:prstGeom>
          <a:solidFill>
            <a:srgbClr val="F8F9FA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06624" y="120700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8.2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06624" y="1481328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args, enums, readonly props, fibers — latest stable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51760" y="1938528"/>
            <a:ext cx="181051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06624" y="197510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PDO + MySQLi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06624" y="224942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ATTR_EMULATE_PREPARES=false → native prepared statements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651760" y="2706624"/>
            <a:ext cx="1810512" cy="676656"/>
          </a:xfrm>
          <a:prstGeom prst="rect">
            <a:avLst/>
          </a:prstGeom>
          <a:solidFill>
            <a:srgbClr val="F8F9FA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06624" y="274320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password_hash()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06624" y="301752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cost=10, auto-salt, tahan rainbow table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651760" y="3474720"/>
            <a:ext cx="181051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06624" y="3511296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random_bytes(32)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06624" y="378561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CSPRNG untuk CSRF token 64-char hex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651760" y="4242816"/>
            <a:ext cx="1810512" cy="676656"/>
          </a:xfrm>
          <a:prstGeom prst="rect">
            <a:avLst/>
          </a:prstGeom>
          <a:solidFill>
            <a:srgbClr val="F8F9FA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06624" y="427939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session_regenerate_id()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06624" y="4553712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Cegah session fixation setelah login berhasil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36592" y="749808"/>
            <a:ext cx="1993392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36592" y="749808"/>
            <a:ext cx="1993392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9744" y="74980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28032" y="1170432"/>
            <a:ext cx="1810512" cy="676656"/>
          </a:xfrm>
          <a:prstGeom prst="rect">
            <a:avLst/>
          </a:prstGeom>
          <a:solidFill>
            <a:srgbClr val="F8F9FA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82896" y="120700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8.0 InnoDB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82896" y="1481328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transactions, row-level locking, foreign keys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28032" y="1938528"/>
            <a:ext cx="181051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82896" y="197510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utf8mb4_unicode_ci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82896" y="224942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Unicode support termasuk emoji dan karakter khusus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828032" y="2706624"/>
            <a:ext cx="1810512" cy="676656"/>
          </a:xfrm>
          <a:prstGeom prst="rect">
            <a:avLst/>
          </a:prstGeom>
          <a:solidFill>
            <a:srgbClr val="F8F9FA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82896" y="274320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INDEX(status)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82896" y="301752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pada kolom paling sering difilter → query cepat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828032" y="3474720"/>
            <a:ext cx="181051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82896" y="3511296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DELETE RESTRICT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82896" y="378561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transactions → books/members tidak bisa hapus jika ada relasi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828032" y="4242816"/>
            <a:ext cx="1810512" cy="676656"/>
          </a:xfrm>
          <a:prstGeom prst="rect">
            <a:avLst/>
          </a:prstGeom>
          <a:solidFill>
            <a:srgbClr val="F8F9FA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82896" y="427939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beginTransaction()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882896" y="4553712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&amp; return atomic: INSERT+UPDATE atau keduanya rollback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912864" y="749808"/>
            <a:ext cx="1993392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912864" y="749808"/>
            <a:ext cx="1993392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86016" y="74980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004304" y="1170432"/>
            <a:ext cx="1810512" cy="676656"/>
          </a:xfrm>
          <a:prstGeom prst="rect">
            <a:avLst/>
          </a:prstGeom>
          <a:solidFill>
            <a:srgbClr val="F8F9FA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59168" y="120700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059168" y="1481328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services: app (PHP-apache), db (MySQL 8), phpmyadmin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004304" y="1938528"/>
            <a:ext cx="181051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59168" y="197510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php:8.2-apache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059168" y="224942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image, mod_rewrite enabled, healtcheck ready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004304" y="2706624"/>
            <a:ext cx="1810512" cy="676656"/>
          </a:xfrm>
          <a:prstGeom prst="rect">
            <a:avLst/>
          </a:prstGeom>
          <a:solidFill>
            <a:srgbClr val="F8F9FA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059168" y="274320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 mount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059168" y="301752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./:/var/www/html/libtrack → live code reload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004304" y="3474720"/>
            <a:ext cx="181051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059168" y="3511296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variables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059168" y="378561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DB_HOST, DB_NAME, DB_USER, DB_PASS via docker-compose env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004304" y="4242816"/>
            <a:ext cx="1810512" cy="676656"/>
          </a:xfrm>
          <a:prstGeom prst="rect">
            <a:avLst/>
          </a:prstGeom>
          <a:solidFill>
            <a:srgbClr val="F8F9FA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059168" y="427939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XAMPP fallback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059168" y="4553712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Auto-detect: DB_HOST=localhost untuk local development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5029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72" y="1115568"/>
            <a:ext cx="3328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LibTrack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347472" y="1828800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Library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290779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27889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modul terintegrasi (books, members, transactions, dashboard)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327355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154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DB transactions — consistency terjamin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363931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5204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Keamanan: CSRF, bcrypt, PDO, session lockout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400507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8862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Docker 1-command atau XAMPP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437083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42519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responsif — Bootstrap 5 + DataTables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473659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6177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overdue real-time — due_date &lt; CURDATE()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114800" y="50292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Repositori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114800" y="932688"/>
            <a:ext cx="4663440" cy="347472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06240" y="93268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github.com/lanss-id/librtrack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114800" y="14447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114800" y="1865376"/>
            <a:ext cx="2176272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14800" y="1865376"/>
            <a:ext cx="5486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242816" y="190195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242816" y="217627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492240" y="1865376"/>
            <a:ext cx="2176272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92240" y="1865376"/>
            <a:ext cx="54864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20256" y="190195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620256" y="217627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114800" y="2523744"/>
            <a:ext cx="2176272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4800" y="2523744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42816" y="256032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242816" y="283464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mod_rewrite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492240" y="2523744"/>
            <a:ext cx="2176272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92240" y="2523744"/>
            <a:ext cx="54864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20256" y="256032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620256" y="283464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4114800" y="3182112"/>
            <a:ext cx="2176272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114800" y="3182112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242816" y="321868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4242816" y="3493008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v3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492240" y="3182112"/>
            <a:ext cx="2176272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492240" y="3182112"/>
            <a:ext cx="54864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620256" y="321868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DataTables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6620256" y="3493008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4114800" y="3840480"/>
            <a:ext cx="2176272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114800" y="3840480"/>
            <a:ext cx="54864" cy="54864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242816" y="387705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SweetAlert2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4242816" y="4151376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492240" y="3840480"/>
            <a:ext cx="2176272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492240" y="3840480"/>
            <a:ext cx="54864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620256" y="387705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6620256" y="4151376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prepared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4114800" y="4608576"/>
            <a:ext cx="46634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114800" y="460857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— LibTrack Academic Library Management System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LibTrack — Dokumentasi Teknis &amp; Fungsional</dc:title>
  <dc:subject>PptxGenJS Presentation</dc:subject>
  <dc:creator>LibTrack</dc:creator>
  <cp:lastModifiedBy>LibTrack</cp:lastModifiedBy>
  <cp:revision>1</cp:revision>
  <dcterms:created xsi:type="dcterms:W3CDTF">2026-06-08T15:11:58Z</dcterms:created>
  <dcterms:modified xsi:type="dcterms:W3CDTF">2026-06-08T15:11:58Z</dcterms:modified>
</cp:coreProperties>
</file>